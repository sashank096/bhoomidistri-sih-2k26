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9" r:id="rId7"/>
    <p:sldId id="298" r:id="rId8"/>
    <p:sldId id="301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6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 lang="en-US" dirty="0"/>
            </a:lvl1pPr>
          </a:lstStyle>
          <a:p/>
        </p:txBody>
      </p:sp>
      <p:sp>
        <p:nvSpPr>
          <p:cNvPr id="7" name="Content Placeholder 7"/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6" name="Content Placeholder 7"/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3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5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7"/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1" name="Picture Placeholder 7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2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10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2" name="Content Placeholder 7"/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Picture Placeholder 10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/>
        </p:txBody>
      </p:sp>
      <p:sp>
        <p:nvSpPr>
          <p:cNvPr id="10" name="Content Placeholder 7"/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2" name="Date Placeholder 5"/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5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465" indent="-164465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/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dirty="0"/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package" Target="../embeddings/Workbook1.xlsx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9.xml"/><Relationship Id="rId5" Type="http://schemas.openxmlformats.org/officeDocument/2006/relationships/image" Target="../media/image13.png"/><Relationship Id="rId4" Type="http://schemas.openxmlformats.org/officeDocument/2006/relationships/image" Target="../media/image17.png"/><Relationship Id="rId3" Type="http://schemas.openxmlformats.org/officeDocument/2006/relationships/image" Target="../media/image15.emf"/><Relationship Id="rId2" Type="http://schemas.openxmlformats.org/officeDocument/2006/relationships/package" Target="../embeddings/Workbook2.xlsx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9.xml"/><Relationship Id="rId5" Type="http://schemas.openxmlformats.org/officeDocument/2006/relationships/hyperlink" Target="https://larr.dolr.gov.in/faces/public/rptLandAcqProg2.xhtml&#13;" TargetMode="External"/><Relationship Id="rId4" Type="http://schemas.openxmlformats.org/officeDocument/2006/relationships/hyperlink" Target="https://www.larr.dolr.gov.in/faces/pdf/user-manual-revised.pdf&#13;" TargetMode="External"/><Relationship Id="rId3" Type="http://schemas.openxmlformats.org/officeDocument/2006/relationships/hyperlink" Target="https://www.larr.dolr.gov.in/" TargetMode="Externa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8404291" y="1828276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870" y="648335"/>
            <a:ext cx="8534400" cy="857885"/>
          </a:xfrm>
        </p:spPr>
        <p:txBody>
          <a:bodyPr/>
          <a:lstStyle/>
          <a:p>
            <a:r>
              <a:rPr lang="en-IN" altLang="en-US" sz="2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AI-Powered Land Acquisition Delay Predictor</a:t>
            </a:r>
            <a:endParaRPr lang="en-IN" altLang="en-US" sz="2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70" y="1092835"/>
            <a:ext cx="8342630" cy="57835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/>
                <a:ea typeface="MS PGothic" panose="020B0600070205080204" pitchFamily="1" charset="-128"/>
                <a:cs typeface="Arial" panose="020B0604020202020204"/>
              </a:rPr>
              <a:t>Problem Statement ID</a:t>
            </a:r>
            <a:r>
              <a:rPr lang="en-IN" altLang="en-US" sz="2400" b="1">
                <a:latin typeface="Arial" panose="020B0604020202020204"/>
                <a:ea typeface="MS PGothic" panose="020B0600070205080204" pitchFamily="1" charset="-128"/>
                <a:cs typeface="Arial" panose="020B0604020202020204"/>
              </a:rPr>
              <a:t> - 26017</a:t>
            </a:r>
            <a:endParaRPr lang="en-US" sz="2400" b="1">
              <a:latin typeface="Arial" panose="020B0604020202020204"/>
              <a:ea typeface="MS PGothic" panose="020B0600070205080204" pitchFamily="1" charset="-128"/>
              <a:cs typeface="Arial" panose="020B0604020202020204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AI - Powered Land Acquisition Delay Predictor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Agriculture,FoodTech &amp; Rural Developnment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AUS_SIH26_196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IndusVision</a:t>
            </a:r>
            <a:endParaRPr lang="en-I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517900" y="1659890"/>
            <a:ext cx="5463540" cy="2153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400" b="1"/>
              <a:t>BhoomiDrishti</a:t>
            </a:r>
            <a:r>
              <a:rPr lang="en-US" altLang="en-US" sz="1400"/>
              <a:t> – AI-Powered Land Acquisition Delay Prediction System</a:t>
            </a:r>
            <a:endParaRPr lang="en-US" altLang="en-US" sz="1400"/>
          </a:p>
          <a:p>
            <a:r>
              <a:rPr lang="en-US" altLang="en-US" sz="1400" b="1"/>
              <a:t>Admin </a:t>
            </a:r>
            <a:r>
              <a:rPr lang="en-US" altLang="en-US" sz="1400"/>
              <a:t>→ Manage users, projects &amp; access</a:t>
            </a:r>
            <a:endParaRPr lang="en-US" altLang="en-US" sz="1400"/>
          </a:p>
          <a:p>
            <a:r>
              <a:rPr lang="en-US" altLang="en-US" sz="1400" b="1"/>
              <a:t>Officer </a:t>
            </a:r>
            <a:r>
              <a:rPr lang="en-US" altLang="en-US" sz="1400"/>
              <a:t>→ Upload data → Analyse → Predict risk → Identify delay factors → Take action</a:t>
            </a:r>
            <a:endParaRPr lang="en-US" altLang="en-US" sz="1400"/>
          </a:p>
          <a:p>
            <a:r>
              <a:rPr lang="en-US" altLang="en-US" sz="1400" b="1"/>
              <a:t>User</a:t>
            </a:r>
            <a:r>
              <a:rPr lang="en-US" altLang="en-US" sz="1400"/>
              <a:t> → View land/case details → Track status → Submit information → Receive updates</a:t>
            </a:r>
            <a:endParaRPr lang="en-US" altLang="en-US" sz="1400"/>
          </a:p>
          <a:p>
            <a:r>
              <a:rPr lang="en-US" altLang="en-US" sz="1400"/>
              <a:t>Core Flow:</a:t>
            </a:r>
            <a:endParaRPr lang="en-US" altLang="en-US" sz="1400"/>
          </a:p>
          <a:p>
            <a:r>
              <a:rPr lang="en-US" altLang="en-US" sz="1400"/>
              <a:t>Data → ML Prediction → Risk → Explain → Prioritize → Action → Status Update → Re-analysis</a:t>
            </a:r>
            <a:endParaRPr lang="en-US" altLang="en-US" sz="1400"/>
          </a:p>
          <a:p>
            <a:r>
              <a:rPr lang="en-US" altLang="en-US" sz="1400" b="1"/>
              <a:t>Future</a:t>
            </a:r>
            <a:r>
              <a:rPr lang="en-US" altLang="en-US" sz="1400"/>
              <a:t>: Secure Backend + Authorized Government Database Integration.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/>
        </p:nvSpPr>
        <p:spPr>
          <a:xfrm>
            <a:off x="11889792" y="237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80000"/>
              </a:lnSpc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736600" y="2660653"/>
            <a:ext cx="93853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8818245" y="880110"/>
            <a:ext cx="5467985" cy="1507490"/>
          </a:xfrm>
          <a:prstGeom prst="rect">
            <a:avLst/>
          </a:prstGeom>
        </p:spPr>
        <p:txBody>
          <a:bodyPr>
            <a:noAutofit/>
          </a:bodyPr>
          <a:p>
            <a:r>
              <a:rPr sz="1600"/>
              <a:t>................................................................</a:t>
            </a:r>
            <a:endParaRPr sz="1600"/>
          </a:p>
        </p:txBody>
      </p:sp>
      <p:sp>
        <p:nvSpPr>
          <p:cNvPr id="15" name="Text Box 14"/>
          <p:cNvSpPr txBox="1"/>
          <p:nvPr/>
        </p:nvSpPr>
        <p:spPr>
          <a:xfrm>
            <a:off x="6070600" y="8797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................................................................</a:t>
            </a:r>
            <a:endParaRPr sz="1600"/>
          </a:p>
        </p:txBody>
      </p:sp>
      <p:sp>
        <p:nvSpPr>
          <p:cNvPr id="16" name="Text Box 15"/>
          <p:cNvSpPr txBox="1"/>
          <p:nvPr/>
        </p:nvSpPr>
        <p:spPr>
          <a:xfrm>
            <a:off x="3201670" y="880110"/>
            <a:ext cx="4596765" cy="186055"/>
          </a:xfrm>
          <a:prstGeom prst="rect">
            <a:avLst/>
          </a:prstGeom>
        </p:spPr>
        <p:txBody>
          <a:bodyPr>
            <a:noAutofit/>
          </a:bodyPr>
          <a:p>
            <a:r>
              <a:rPr sz="1600"/>
              <a:t>................................................................</a:t>
            </a:r>
            <a:endParaRPr sz="1600"/>
          </a:p>
        </p:txBody>
      </p:sp>
      <p:sp>
        <p:nvSpPr>
          <p:cNvPr id="17" name="Text Box 16"/>
          <p:cNvSpPr txBox="1"/>
          <p:nvPr/>
        </p:nvSpPr>
        <p:spPr>
          <a:xfrm>
            <a:off x="-635" y="879475"/>
            <a:ext cx="8636635" cy="767080"/>
          </a:xfrm>
          <a:prstGeom prst="rect">
            <a:avLst/>
          </a:prstGeom>
        </p:spPr>
        <p:txBody>
          <a:bodyPr>
            <a:noAutofit/>
          </a:bodyPr>
          <a:p>
            <a:r>
              <a:rPr sz="1600"/>
              <a:t>................................................................</a:t>
            </a:r>
            <a:endParaRPr sz="16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5" y="110490"/>
            <a:ext cx="1222375" cy="952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1216660"/>
            <a:ext cx="12185015" cy="5641340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2891155" y="242570"/>
            <a:ext cx="7512685" cy="4870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IN" altLang="en-US" sz="360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 APPROACH</a:t>
            </a:r>
            <a:endParaRPr lang="en-IN" altLang="en-US" sz="360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415" y="1057275"/>
            <a:ext cx="12001500" cy="2371725"/>
          </a:xfrm>
        </p:spPr>
        <p:txBody>
          <a:bodyPr/>
          <a:lstStyle/>
          <a:p>
            <a:pPr eaLnBrk="1" hangingPunct="1"/>
            <a:endParaRPr lang="en-US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5105" y="9862185"/>
          <a:ext cx="5291455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6009620" imgH="9319260" progId="Excel.Sheet.12">
                  <p:embed/>
                </p:oleObj>
              </mc:Choice>
              <mc:Fallback>
                <p:oleObj name="" r:id="rId1" imgW="16009620" imgH="9319260" progId="Excel.Sheet.12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105" y="9862185"/>
                        <a:ext cx="5291455" cy="7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415" y="847725"/>
            <a:ext cx="12001500" cy="2581275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- - - - - - - - - - -- - - - - - - - - - -- - - - - - - - - - -- - - - - - - - - - -- - - - - - - - - - -- - </a:t>
            </a:r>
            <a:endParaRPr lang="en-US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5105" y="9862185"/>
          <a:ext cx="5291455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6009620" imgH="9319260" progId="Excel.Sheet.12">
                  <p:embed/>
                </p:oleObj>
              </mc:Choice>
              <mc:Fallback>
                <p:oleObj name="" r:id="rId2" imgW="16009620" imgH="9319260" progId="Excel.Sheet.12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105" y="9862185"/>
                        <a:ext cx="5291455" cy="7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31620"/>
            <a:ext cx="12185650" cy="532701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110490"/>
            <a:ext cx="1222375" cy="9525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564890" y="245110"/>
            <a:ext cx="6215380" cy="60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>
                <a:solidFill>
                  <a:schemeClr val="tx2">
                    <a:lumMod val="50000"/>
                    <a:lumOff val="50000"/>
                  </a:schemeClr>
                </a:solidFill>
              </a:rPr>
              <a:t>IMPACT AND BENEFITS</a:t>
            </a:r>
            <a:endParaRPr lang="en-IN" altLang="en-US" sz="320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368040" y="325755"/>
            <a:ext cx="5391150" cy="5511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* Department of Land Resources — Land Acquisition, Compensation, Rehabilitation &amp; Resettlement Information System (LACRRIS):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https://www.larr.dolr.gov.in/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* LACRRIS User Manual: Official documentation covering user roles, project management, data entry, reporting and system workflow.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https://www.larr.dolr.gov.in/faces/pdf/user-manual-revised.pdf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* LACRRIS Land Acquisition Progress: Official project/state-wise information on acquisition progress and stages.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https://larr.dolr.gov.in/faces/public/rptLandAcqProg2.xhtml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* LACRRIS Project-Wise Progress: Official project-level acquisition information and progress.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https://larr.dolr.gov.in/faces/public/projectwise.xhtml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* LACRRIS Dashboard: Official dashboard containing land-acquisition project and progress indicators.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https://www.larr.dolr.gov.in/faces/common/dashboard.xhtml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* Right to Fair Compensation and Transparency in Land Acquisition, Rehabilitation and Resettlement Act, 2013 — India Code: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https://www.indiacode.nic.in/handle/123456789/19895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370" y="-45213"/>
            <a:ext cx="2249850" cy="10623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6420" cy="102743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-635" y="807720"/>
            <a:ext cx="12192635" cy="774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........................................................................................................................</a:t>
            </a:r>
            <a:r>
              <a:rPr lang="en-US" altLang="en-US">
                <a:sym typeface="+mn-ea"/>
              </a:rPr>
              <a:t>.......................................................................................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0" y="1137285"/>
            <a:ext cx="3058795" cy="361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b="1">
                <a:solidFill>
                  <a:srgbClr val="00B0F0"/>
                </a:solidFill>
              </a:rPr>
              <a:t>Field &amp; Applied Research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-19050" y="1498600"/>
            <a:ext cx="12205970" cy="676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•Studied the existing Land Acquisition, Compensation, Rehabilitation &amp; Resettlement Information System (LACRRIS) to understand the current land-acquisition workflow, project monitoring and reporting.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-9525" y="2199005"/>
            <a:ext cx="12197080" cy="600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•Examined acquisition stages including Social Impact Assessment (SIA), Preliminary Notification, Declaration, Award, Compensation Payment, Rehabilitation &amp; Resettlement and Possession.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0" y="2829560"/>
            <a:ext cx="121926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 </a:t>
            </a:r>
            <a:r>
              <a:rPr lang="en-US" altLang="en-US">
                <a:sym typeface="+mn-ea"/>
              </a:rPr>
              <a:t>•</a:t>
            </a:r>
            <a:r>
              <a:rPr lang="en-US" altLang="en-US"/>
              <a:t>Analysed how project and case-level information can be used to identify potential delay patterns and support early intervention by responsible officers.</a:t>
            </a:r>
            <a:endParaRPr lang="en-US" altLang="en-US"/>
          </a:p>
          <a:p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0" y="3359785"/>
            <a:ext cx="9144000" cy="50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b="1">
                <a:solidFill>
                  <a:srgbClr val="00B0F0"/>
                </a:solidFill>
              </a:rPr>
              <a:t>Academic &amp; Government Sources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4445" y="3499485"/>
            <a:ext cx="12188190" cy="3384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en-US"/>
          </a:p>
          <a:p>
            <a:r>
              <a:rPr lang="en-US" altLang="en-US">
                <a:sym typeface="+mn-ea"/>
              </a:rPr>
              <a:t>•</a:t>
            </a:r>
            <a:r>
              <a:rPr lang="en-US" altLang="en-US"/>
              <a:t> Department of Land Resources — Land Acquisition, Compensation, Rehabilitation &amp; Resettlement Information System (LACRRIS):</a:t>
            </a:r>
            <a:endParaRPr lang="en-US" altLang="en-US"/>
          </a:p>
          <a:p>
            <a:r>
              <a:rPr lang="en-US" altLang="en-US">
                <a:sym typeface="+mn-ea"/>
                <a:hlinkClick r:id="rId3" action="ppaction://hlinkfile"/>
              </a:rPr>
              <a:t>https://www.larr.dolr.gov.in/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•</a:t>
            </a:r>
            <a:r>
              <a:rPr lang="en-US" altLang="en-US"/>
              <a:t>LACRRIS User Manual: Official documentation covering user roles, project management, data entry, reporting and system workflow.</a:t>
            </a:r>
            <a:endParaRPr lang="en-US" altLang="en-US"/>
          </a:p>
          <a:p>
            <a:r>
              <a:rPr lang="en-US" altLang="en-US">
                <a:hlinkClick r:id="rId4" action="ppaction://hlinkfile"/>
              </a:rPr>
              <a:t>https://www.larr.dolr.gov.in/faces/pdf/user-manual-revised.pdf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•</a:t>
            </a:r>
            <a:r>
              <a:rPr lang="en-US" altLang="en-US"/>
              <a:t> LACRRIS Land Acquisition Progress: Official project/state-wise information on acquisition progress and stages.</a:t>
            </a:r>
            <a:endParaRPr lang="en-US" altLang="en-US"/>
          </a:p>
          <a:p>
            <a:r>
              <a:rPr lang="en-US" altLang="en-US">
                <a:hlinkClick r:id="rId5" action="ppaction://hlinkfile"/>
              </a:rPr>
              <a:t>https://larr.dolr.gov.in/faces/public/rptLandAcqProg2.xhtml</a:t>
            </a:r>
            <a:endParaRPr lang="en-US" altLang="en-US"/>
          </a:p>
          <a:p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Axi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Ax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3561</Words>
  <Application>WPS Presentation</Application>
  <PresentationFormat>Widescreen</PresentationFormat>
  <Paragraphs>101</Paragraphs>
  <Slides>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MS PGothic</vt:lpstr>
      <vt:lpstr>Garamond</vt:lpstr>
      <vt:lpstr>Arial</vt:lpstr>
      <vt:lpstr>Times New Roman</vt:lpstr>
      <vt:lpstr>TradeGothic</vt:lpstr>
      <vt:lpstr>AMGDT</vt:lpstr>
      <vt:lpstr>TradeGothic</vt:lpstr>
      <vt:lpstr>Microsoft YaHei</vt:lpstr>
      <vt:lpstr>Arial Unicode MS</vt:lpstr>
      <vt:lpstr>Neue Haas Grotesk Text Pro</vt:lpstr>
      <vt:lpstr>Axis</vt:lpstr>
      <vt:lpstr>Excel.Sheet.12</vt:lpstr>
      <vt:lpstr>Excel.Sheet.12</vt:lpstr>
      <vt:lpstr>SMART INDIA HACKATHON 2026</vt:lpstr>
      <vt:lpstr> </vt:lpstr>
      <vt:lpstr>PowerPoint 演示文稿</vt:lpstr>
      <vt:lpstr>PowerPoint 演示文稿</vt:lpstr>
      <vt:lpstr>- - - - - - - - - - -- - - - - - - - - - -- - - - - - - - - - -- - - - - - - - - - -- - - - - - - - - - -- - 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AVULA LOKESH</cp:lastModifiedBy>
  <cp:revision>161</cp:revision>
  <dcterms:created xsi:type="dcterms:W3CDTF">2013-12-12T18:46:00Z</dcterms:created>
  <dcterms:modified xsi:type="dcterms:W3CDTF">2026-08-31T14:33:24Z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A5016C2BE6A248F6ACDD157967DB4310_12</vt:lpwstr>
  </property>
  <property fmtid="{D5CDD505-2E9C-101B-9397-08002B2CF9AE}" pid="3" name="KSOProductBuildVer">
    <vt:lpwstr>1033-12.1.0.28032</vt:lpwstr>
  </property>
</Properties>
</file>